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进度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已完成</c:v>
                </c:pt>
                <c:pt idx="1">
                  <c:v>进行中</c:v>
                </c:pt>
                <c:pt idx="2">
                  <c:v>未开始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137160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股权转让纠纷案件分析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股权转让纠纷  ·  长沙市中级人民法院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(2024)湘01民终4567号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139 7589 2485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案件背景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Background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股权转让背景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2022年3月，被告张三将其持有的湖南星辉科技有限公司30%股权（对应注册资本300万元）转让给原告，双方签订《股权转让协议》约定转让款为1000万元，分三期支付。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6596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股权变更完成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2022年3月20日，双方完成工商变更登记，原告正式成为持有公司30%股权的股东，并开始参与公司经营管理。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17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违约事实发生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3375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截至2023年6月30日，被告仅支付第一期款项400万元，第二期款项400万元及第三期款项200万元均未按约支付。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一审诉讼经过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原告于2024年1月向岳麓区人民法院提起诉讼，一审法院判决支持原告全部诉讼请求，被告不服提起上诉。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当事人信息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Party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名称/姓名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湖南星辉科技有限公司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身份标识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李明（法定代表人）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诉讼地位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上诉人（原审原告）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住所地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长沙市高新区...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成立于2015年，注册资本1000万元，主要从事软件开发业务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1645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名称/姓名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身份标识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4301051978**********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诉讼地位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被上诉人（原审被告）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住所地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长沙市岳麓区...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原星辉公司股东，持有30%股权，现已转让全部股权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争议焦点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 Dispute Points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379476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789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0" y="1005840"/>
            <a:ext cx="201168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1078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争议事项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182880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原告主张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005840"/>
            <a:ext cx="182880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被告抗辩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1828800" cy="4114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1554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转让款支付条件是否成就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被告未按约定时间支付第二、三期款项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原告未协助办理资质变更手续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被告违约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2377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违约金金额如何认定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按协议约定日万分之五计算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约定过高，请求法院调整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需法院酌定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91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利息计算的起止时间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004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自各期应付之日起算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3200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应从催告后开始计算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待二审认定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焦点四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887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被告主张的抗辩是否成立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被告抗辩缺乏事实依据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存在情势变更情形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一审未采信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法律依据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Legal Basis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109728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280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1097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《中华人民共和国民法典》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137160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第509条、第563条、第577条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15544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合同当事人应当按照约定全面履行自己的义务...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20240"/>
            <a:ext cx="109728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194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2011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《中华人民共和国公司法》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28600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第71条、第73条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24688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有限责任公司的股东之间可以相互转让其全部或部分股权...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34640"/>
            <a:ext cx="1097280" cy="8229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司法解释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2926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《最高人民法院关于适用〈民法典〉合同编通则若干问题的解释》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20040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第20条、第22条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33832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当事人一方违反合同义务的，另一方有权请求其承担违约责任...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49040"/>
            <a:ext cx="1097280" cy="8229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司法解释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3840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《全国法院民商事审判工作会议纪要》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91640" y="411480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第47条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91640" y="42976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关于股权转让合同履行障碍的相关规定...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股权转让协议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证明力强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工商变更登记材料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证明力强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银行转账凭证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证明力强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1005840"/>
            <a:ext cx="26517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155448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4048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律师函及邮寄凭证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证明力中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256032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84048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往来微信记录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需公证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1078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当事人陈述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17920" y="155448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75120" y="1691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原告陈述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待质证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256032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被告陈述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751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证明力弱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损失计算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Calculation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1005840"/>
            <a:ext cx="13716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本金(元)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005840"/>
            <a:ext cx="9144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005840"/>
            <a:ext cx="13716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005840"/>
            <a:ext cx="228600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利息/金额(元)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到期未付本金（第二期）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4,000,000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164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365天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年化15.4%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615,000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到期未付本金（第三期）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2,000,000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年化15.4%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151,000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违约金（协议约定）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日万分之五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1,552,500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律师费（预估）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政府指导价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80,000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诉请合计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¥ 6,398,500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案件时间线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79552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2022-03-15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股权转让协议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签订《股权转让协议》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2022-03-20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544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股权变更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完成工商变更登记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2023-06-30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260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付款逾期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第二期款项未支付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2023-09-01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律师函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发送催告函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6916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2024-01-15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一审立案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岳麓区人民法院立案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691640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2024-04-20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一审判决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判决支持原告诉请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778240" y="1691640"/>
            <a:ext cx="274320" cy="274320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2024-06-30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二审开庭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210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长沙市中级人民法院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Strategic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51560"/>
            <a:ext cx="40690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优势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协议原件完整有效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工商变更登记齐全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催告函送达证据充分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51560"/>
            <a:ext cx="4069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124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劣势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Weaknesses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转让价格约定较高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被告经济状况不明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40690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机会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被告有其他投资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可申请财产保全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306324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063240"/>
            <a:ext cx="4069080" cy="4572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136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威胁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4380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被告下落不明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执行难度较大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法律要件分析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Legal Elements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00584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078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协议成立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双方签字盖章，协议依法成立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536192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6093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协议生效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符合生效条件，协议已生效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16276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66544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066544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1396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股权变更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21579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已完成工商变更登记手续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596896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付款义务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26883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被告未按约支付第二期转让款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26883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127248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127248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200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催告有效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011680" y="3218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律师函已有效送达被告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3218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657600"/>
            <a:ext cx="54864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730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违约责任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011680" y="3749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协议约定逾期付款违约责任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3749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满足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187952"/>
            <a:ext cx="8229600" cy="47548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187952"/>
            <a:ext cx="54864" cy="4754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261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损害金额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011680" y="42793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原告损失金额待二审确认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42793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◐ 审查中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诉讼请求与金额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 &amp; Amounts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股权转让款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¥6,000,000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0" y="1097280"/>
            <a:ext cx="2130369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70.6%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逾期利息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¥1,800,000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192024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0" y="1920240"/>
            <a:ext cx="639714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21.2%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¥700,000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669280" y="2743200"/>
            <a:ext cx="3017520" cy="685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0" y="2743200"/>
            <a:ext cx="247437" cy="6858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5029200" cy="685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3703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¥8,500,000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669280" y="3566160"/>
            <a:ext cx="30175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0" y="3566160"/>
            <a:ext cx="3017520" cy="6858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注：利息计算至实际清偿之日止，按同期LPR四倍标准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8463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4892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4892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诉讼进度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Litigation Progress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03520" y="91440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23444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1732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1168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94560" y="1371600"/>
            <a:ext cx="594360" cy="594360"/>
          </a:xfrm>
          <a:prstGeom prst="ellipse">
            <a:avLst/>
          </a:prstGeom>
          <a:solidFill>
            <a:srgbClr val="05966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5740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立案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88920" y="1664208"/>
            <a:ext cx="18288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71800" y="1371600"/>
            <a:ext cx="594360" cy="594360"/>
          </a:xfrm>
          <a:prstGeom prst="ellipse">
            <a:avLst/>
          </a:prstGeom>
          <a:solidFill>
            <a:srgbClr val="C9A227"/>
          </a:solidFill>
          <a:ln w="25400">
            <a:solidFill>
              <a:srgbClr val="0F2A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3464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举证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566160" y="1664208"/>
            <a:ext cx="1828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749040" y="1371600"/>
            <a:ext cx="594360" cy="594360"/>
          </a:xfrm>
          <a:prstGeom prst="ellipse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1188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开庭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343400" y="1664208"/>
            <a:ext cx="18288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1371600"/>
            <a:ext cx="594360" cy="594360"/>
          </a:xfrm>
          <a:prstGeom prst="ellipse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0" y="20574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274320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6"/>
          <p:cNvSpPr/>
          <p:nvPr/>
        </p:nvSpPr>
        <p:spPr>
          <a:xfrm>
            <a:off x="548640" y="2743200"/>
            <a:ext cx="54864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2852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286000" y="2816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一审开庭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48640" y="338328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3" name="Shape 30"/>
          <p:cNvSpPr/>
          <p:nvPr/>
        </p:nvSpPr>
        <p:spPr>
          <a:xfrm>
            <a:off x="548640" y="3383280"/>
            <a:ext cx="54864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剩余时间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286000" y="3456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约60天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48640" y="4023360"/>
            <a:ext cx="4114800" cy="50292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7" name="Shape 34"/>
          <p:cNvSpPr/>
          <p:nvPr/>
        </p:nvSpPr>
        <p:spPr>
          <a:xfrm>
            <a:off x="548640" y="402336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胜诉概率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286000" y="4096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Litigation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10972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261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财产保全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1463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申请冻结被告持有的其他公司股权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65960"/>
            <a:ext cx="1097280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219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补充证据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37360" y="2423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收集被告其他财产线索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1097280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182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和解谈判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737360" y="33832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在二审中争取调解结案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886200"/>
            <a:ext cx="1097280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1422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强制执行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37360" y="4343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判决后申请强制执行股权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二审策略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Second Instance Strategy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维持一审判决，争取二审全面胜诉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965960"/>
            <a:ext cx="731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证据策略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423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补充提交被告恶意转移财产的相关证据，证明其存在逃避债务的主观故意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731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程序策略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383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申请法院调取被告银行流水，查明其实际财务状况和资金去向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886200"/>
            <a:ext cx="731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28016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和解策略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做好调解预案，如被告确有和解诚意，可适当减免利息以尽快实现债权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Warning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914400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1143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执行风险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1554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被告名下无可供执行财产，即使胜诉也可能面临执行困难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286000"/>
            <a:ext cx="914400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423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时间风险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2834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二审程序预计需要6-12个月，债权实现周期较长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66160"/>
            <a:ext cx="914400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703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改判风险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1148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一审事实认定清楚，法律适用正确，二审改判可能性较小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C9A227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177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建议：综合评估风险后确定代理方案，如风险较高可考虑诉前保全或和解策略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对方抗辩分析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对方核心主张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资金周转困难请求延期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原告未履行协助义务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协议存在显失公平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73152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我方反驳要点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协议系双方真实意思表示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原告已全部履行合同义务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被告违约事实清楚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一审法院全面支持原告主张，二审中被告上诉理由缺乏事实和法律依据，预计维持原判可能性较大。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关键证据清单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协议文件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股权转让协议原件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补充协议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股东会决议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变更登记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工商变更登记证明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股东名册变更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公司章程修正案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付款凭证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第一期付款凭证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银行转账记录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收款收据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71800"/>
            <a:ext cx="402336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催告函件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律师函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邮寄凭证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送达回证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股权转让纠纷案件分析</dc:title>
  <dc:subject>股权转让纠纷案件分析</dc:subject>
  <dc:creator>法律智囊</dc:creator>
  <cp:lastModifiedBy>法律智囊</cp:lastModifiedBy>
  <cp:revision>1</cp:revision>
  <dcterms:created xsi:type="dcterms:W3CDTF">2026-03-23T05:09:29Z</dcterms:created>
  <dcterms:modified xsi:type="dcterms:W3CDTF">2026-03-23T05:09:29Z</dcterms:modified>
</cp:coreProperties>
</file>